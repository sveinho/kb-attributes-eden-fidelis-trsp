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TRSP: Profiles for Repositories and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4EB"/>
                </a:solidFill>
              </a:defRPr>
            </a:pPr>
            <a:r>
              <a:t>A flexible model for heterogeneous metadata, reusable vocabularies, and machine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65960"/>
            <a:ext cx="2286000" cy="9601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965960"/>
            <a:ext cx="2286000" cy="96012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965960"/>
            <a:ext cx="2286000" cy="960120"/>
          </a:xfrm>
          <a:prstGeom prst="roundRect">
            <a:avLst/>
          </a:prstGeom>
          <a:solidFill>
            <a:srgbClr val="AE6F38"/>
          </a:solidFill>
          <a:ln>
            <a:solidFill>
              <a:srgbClr val="AE6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Profile Property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965960"/>
            <a:ext cx="2011680" cy="960120"/>
          </a:xfrm>
          <a:prstGeom prst="roundRect">
            <a:avLst/>
          </a:prstGeom>
          <a:solidFill>
            <a:srgbClr val="578264"/>
          </a:solidFill>
          <a:ln>
            <a:solidFill>
              <a:srgbClr val="578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RDF Property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2450592"/>
            <a:ext cx="50292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11780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hasProfile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450592"/>
            <a:ext cx="50292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00699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hasProperty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450592"/>
            <a:ext cx="50292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89620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Separate what a resource is from how it is described for a particular purpose.</a:t>
            </a:r>
          </a:p>
          <a:p>
            <a:pPr algn="ctr">
              <a:defRPr sz="1600">
                <a:solidFill>
                  <a:srgbClr val="D7E1E8"/>
                </a:solidFill>
              </a:defRPr>
            </a:pPr>
            <a:r>
              <a:t>One repository or service can participate in several profiles without changing its identity.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Overview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1"/>
                </a:solidFill>
              </a:defRPr>
            </a:pPr>
            <a:r>
              <a:t>Why introduce profiles?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Different communities need different descriptions of the same resource.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00400" cy="685800"/>
          </a:xfrm>
          <a:prstGeom prst="round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Repository /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468880"/>
            <a:ext cx="2880360" cy="59436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Basic registry profile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1764792"/>
            <a:ext cx="685800" cy="996696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17720" y="3429000"/>
            <a:ext cx="2880360" cy="59436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Assessment profile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764792"/>
            <a:ext cx="685800" cy="1956816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4389120"/>
            <a:ext cx="2880360" cy="59436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EOSC-oriented profile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64792"/>
            <a:ext cx="685800" cy="2916936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09560" y="141732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43A"/>
                </a:solidFill>
              </a:defRPr>
            </a:pPr>
            <a:r>
              <a:t>• Profiles select the information relevant to a purpose or community.</a:t>
            </a:r>
          </a:p>
          <a:p>
            <a:pPr>
              <a:spcAft>
                <a:spcPts val="900"/>
              </a:spcAft>
              <a:defRPr sz="1600">
                <a:solidFill>
                  <a:srgbClr val="2D343A"/>
                </a:solidFill>
              </a:defRPr>
            </a:pPr>
            <a:r>
              <a:t>• The same property can be mandatory in one profile and optional in another.</a:t>
            </a:r>
          </a:p>
          <a:p>
            <a:pPr>
              <a:spcAft>
                <a:spcPts val="900"/>
              </a:spcAft>
              <a:defRPr sz="1600">
                <a:solidFill>
                  <a:srgbClr val="2D343A"/>
                </a:solidFill>
              </a:defRPr>
            </a:pPr>
            <a:r>
              <a:t>• Properties can come from DCTERMS, DCAT, Schema.org, TRSP, or other namespaces.</a:t>
            </a:r>
          </a:p>
          <a:p>
            <a:pPr>
              <a:spcAft>
                <a:spcPts val="900"/>
              </a:spcAft>
              <a:defRPr sz="1600">
                <a:solidFill>
                  <a:srgbClr val="2D343A"/>
                </a:solidFill>
              </a:defRPr>
            </a:pPr>
            <a:r>
              <a:t>• The resource does not become a different resource when another profile is applied.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Overview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1"/>
                </a:solidFill>
              </a:defRPr>
            </a:pPr>
            <a:r>
              <a:t>Profile Property: the key indirection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A profile configures the use of a reusable RDF predicate.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148840" cy="73152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Profile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2148840" cy="73152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Profile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645920"/>
            <a:ext cx="2743200" cy="1051560"/>
          </a:xfrm>
          <a:prstGeom prst="roundRect">
            <a:avLst/>
          </a:prstGeom>
          <a:solidFill>
            <a:srgbClr val="AE6F38"/>
          </a:solidFill>
          <a:ln>
            <a:solidFill>
              <a:srgbClr val="AE6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Publisher use A</a:t>
            </a:r>
            <a:br/>
            <a:r>
              <a:t>1..n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3657600"/>
            <a:ext cx="2743200" cy="1051560"/>
          </a:xfrm>
          <a:prstGeom prst="roundRect">
            <a:avLst/>
          </a:prstGeom>
          <a:solidFill>
            <a:srgbClr val="AE6F38"/>
          </a:solidFill>
          <a:ln>
            <a:solidFill>
              <a:srgbClr val="AE6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Publisher use B</a:t>
            </a:r>
            <a:br/>
            <a:r>
              <a:t>0..1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697480"/>
            <a:ext cx="2377440" cy="822960"/>
          </a:xfrm>
          <a:prstGeom prst="roundRect">
            <a:avLst/>
          </a:prstGeom>
          <a:solidFill>
            <a:srgbClr val="578264"/>
          </a:solidFill>
          <a:ln>
            <a:solidFill>
              <a:srgbClr val="578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dct:publisher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194560"/>
            <a:ext cx="91440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06039" y="19385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hasProperty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4206240"/>
            <a:ext cx="91440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06039" y="3950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hasProperty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2176272"/>
            <a:ext cx="1828800" cy="82296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20840" y="23317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property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46520" y="3218688"/>
            <a:ext cx="1828800" cy="969264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344728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Each profile remains self-contained.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Constraints belong to the profile-specific use, not to dct:publisher itself.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Repository/service data still uses the authoritative predicate.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Overview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1"/>
                </a:solidFill>
              </a:defRPr>
            </a:pPr>
            <a:r>
              <a:t>Repositories and services are connected, not collapsed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Service roles are relationships; API services are a meaningful specialization.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194560" cy="731520"/>
          </a:xfrm>
          <a:prstGeom prst="round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Repository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2194560" cy="731520"/>
          </a:xfrm>
          <a:prstGeom prst="round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Repository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606040"/>
            <a:ext cx="2468880" cy="82296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Service 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194560"/>
            <a:ext cx="1783080" cy="68580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77540" y="22814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provides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926080" y="3182112"/>
            <a:ext cx="1783080" cy="1069848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77540" y="346100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consumes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2468880" cy="685800"/>
          </a:xfrm>
          <a:prstGeom prst="roundRect">
            <a:avLst/>
          </a:prstGeom>
          <a:solidFill>
            <a:srgbClr val="6E7882"/>
          </a:solidFill>
          <a:ln>
            <a:solidFill>
              <a:srgbClr val="6E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schema:Service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697480"/>
            <a:ext cx="2468880" cy="68580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trsp:Service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840480"/>
            <a:ext cx="2468880" cy="68580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trsp:APIService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646920" y="3383280"/>
            <a:ext cx="0" cy="45720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06840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subclass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646920" y="2240280"/>
            <a:ext cx="0" cy="45720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06840" y="2212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A"/>
                </a:solidFill>
              </a:defRPr>
            </a:pPr>
            <a:r>
              <a:t>subclass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A repository may provide and/or consume many services.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Manual vs automated is normally a service characteristic.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APIService is specialized because endpoint, protocol, specification, authentication, TRL and similar properties may apply.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Overview → implementation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1"/>
                </a:solidFill>
              </a:defRPr>
            </a:pPr>
            <a:r>
              <a:t>Developer view: four linked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Keep ontology semantics, profile configuration, and instance data distinct.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331720" cy="777240"/>
          </a:xfrm>
          <a:prstGeom prst="round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Resource</a:t>
            </a:r>
            <a:br/>
            <a:r>
              <a:t>trsp:Repository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508760"/>
            <a:ext cx="2331720" cy="77724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Profile</a:t>
            </a:r>
            <a:br/>
            <a:r>
              <a:t>RepositoryProfile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508760"/>
            <a:ext cx="2331720" cy="777240"/>
          </a:xfrm>
          <a:prstGeom prst="roundRect">
            <a:avLst/>
          </a:prstGeom>
          <a:solidFill>
            <a:srgbClr val="AE6F38"/>
          </a:solidFill>
          <a:ln>
            <a:solidFill>
              <a:srgbClr val="AE6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ProfileProperty</a:t>
            </a:r>
            <a:br/>
            <a:r>
              <a:t>publisher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508760"/>
            <a:ext cx="2331720" cy="777240"/>
          </a:xfrm>
          <a:prstGeom prst="roundRect">
            <a:avLst/>
          </a:prstGeom>
          <a:solidFill>
            <a:srgbClr val="578264"/>
          </a:solidFill>
          <a:ln>
            <a:solidFill>
              <a:srgbClr val="578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rdf:Property</a:t>
            </a:r>
            <a:br/>
            <a:r>
              <a:t>dct:publisher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1901952"/>
            <a:ext cx="32004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1901952"/>
            <a:ext cx="32004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8160" y="1901952"/>
            <a:ext cx="320040" cy="0"/>
          </a:xfrm>
          <a:prstGeom prst="line">
            <a:avLst/>
          </a:prstGeom>
          <a:ln w="25400">
            <a:solidFill>
              <a:srgbClr val="386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788920"/>
            <a:ext cx="6629400" cy="2880360"/>
          </a:xfrm>
          <a:prstGeom prst="roundRect">
            <a:avLst/>
          </a:prstGeom>
          <a:solidFill>
            <a:srgbClr val="F7F8F9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solidFill>
                  <a:srgbClr val="2D343A"/>
                </a:solidFill>
                <a:latin typeface="Courier New"/>
              </a:defRPr>
            </a:pPr>
            <a:r>
              <a:t>ex:Repository123</a:t>
            </a:r>
            <a:br/>
            <a:r>
              <a:t>    a trsp:Repository ;</a:t>
            </a:r>
            <a:br/>
            <a:r>
              <a:t>    trsp:hasProfile ex:ProfileA ;</a:t>
            </a:r>
            <a:br/>
            <a:r>
              <a:t>    dct:publisher ex:Organisation456 .</a:t>
            </a:r>
            <a:br/>
            <a:br/>
            <a:r>
              <a:t>ex:ProfileA</a:t>
            </a:r>
            <a:br/>
            <a:r>
              <a:t>    a trsp:RepositoryProfile ;</a:t>
            </a:r>
            <a:br/>
            <a:r>
              <a:t>    trsp:hasProperty ex:ProfileA-publisher .</a:t>
            </a:r>
            <a:br/>
            <a:br/>
            <a:r>
              <a:t>ex:ProfileA-publisher</a:t>
            </a:r>
            <a:br/>
            <a:r>
              <a:t>    a trsp:ProfileProperty ;</a:t>
            </a:r>
            <a:br/>
            <a:r>
              <a:t>    trsp:property dct:publisher ;</a:t>
            </a:r>
            <a:br/>
            <a:r>
              <a:t>    trsp:cardinality trsp:cardinality1_n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788920"/>
            <a:ext cx="3840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hasProfile: resource → Profile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hasProperty: Profile → ProfileProperty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property: ProfileProperty → rdf:Property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No separate hasProfileProperty is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Developers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1"/>
                </a:solidFill>
              </a:defRPr>
            </a:pPr>
            <a:r>
              <a:t>Semantics vs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43A"/>
                </a:solidFill>
              </a:defRPr>
            </a:pPr>
            <a:r>
              <a:t>Use OWL/RDFS to say what things mean; use SHACL to test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108960" cy="731520"/>
          </a:xfrm>
          <a:prstGeom prst="round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OWL / RDFS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Classes and subclass relationships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Object-property semantics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Broad domain/range where genuinely universal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08760"/>
            <a:ext cx="3108960" cy="731520"/>
          </a:xfrm>
          <a:prstGeom prst="roundRect">
            <a:avLst/>
          </a:prstGeom>
          <a:solidFill>
            <a:srgbClr val="386996"/>
          </a:solidFill>
          <a:ln>
            <a:solidFill>
              <a:srgbClr val="3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23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Which properties apply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Profile-specific cardinality and value expectations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Mappings and other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08760"/>
            <a:ext cx="3108960" cy="7315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SHACL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4231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Validate cardinality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Datatype / class / vocabulary constraints</a:t>
            </a:r>
          </a:p>
          <a:p>
            <a:pPr>
              <a:spcAft>
                <a:spcPts val="900"/>
              </a:spcAft>
              <a:defRPr sz="1500">
                <a:solidFill>
                  <a:srgbClr val="2D343A"/>
                </a:solidFill>
              </a:defRPr>
            </a:pPr>
            <a:r>
              <a:t>• Profile-specific conformance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E6F38"/>
                </a:solidFill>
              </a:defRPr>
            </a:pPr>
            <a:r>
              <a:t>Important: rdfs:domain and rdfs:range entail types — they are not validation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Developers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Implementation rules to preserve interoperability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02920" cy="5029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389888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Profiles are instances</a:t>
            </a:r>
          </a:p>
          <a:p>
            <a:pPr>
              <a:defRPr sz="1200">
                <a:solidFill>
                  <a:srgbClr val="D2DCE4"/>
                </a:solidFill>
              </a:defRPr>
            </a:pPr>
            <a:r>
              <a:t>Do not create an OWL subclass for every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502920" cy="5029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67128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ProfileProperty is not rdf:Property</a:t>
            </a:r>
          </a:p>
          <a:p>
            <a:pPr>
              <a:defRPr sz="1200">
                <a:solidFill>
                  <a:srgbClr val="D2DCE4"/>
                </a:solidFill>
              </a:defRPr>
            </a:pPr>
            <a:r>
              <a:t>It describes how an RDF predicate is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02920" cy="5029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44368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Reuse authoritative predicates</a:t>
            </a:r>
          </a:p>
          <a:p>
            <a:pPr>
              <a:defRPr sz="1200">
                <a:solidFill>
                  <a:srgbClr val="D2DCE4"/>
                </a:solidFill>
              </a:defRPr>
            </a:pPr>
            <a:r>
              <a:t>Instance data continues to use dct:, dcat:, schema:,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502920" cy="5029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21607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Duplicate configuration when useful</a:t>
            </a:r>
          </a:p>
          <a:p>
            <a:pPr>
              <a:defRPr sz="1200">
                <a:solidFill>
                  <a:srgbClr val="D2DCE4"/>
                </a:solidFill>
              </a:defRPr>
            </a:pPr>
            <a:r>
              <a:t>The same predicate may have independent ProfileProperty definitions.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26279"/>
            <a:ext cx="502920" cy="5029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498847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Keep controlled values separate</a:t>
            </a:r>
          </a:p>
          <a:p>
            <a:pPr>
              <a:defRPr sz="1200">
                <a:solidFill>
                  <a:srgbClr val="D2DCE4"/>
                </a:solidFill>
              </a:defRPr>
            </a:pPr>
            <a:r>
              <a:t>Use SKOS concepts for classifications and enumerations.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03519"/>
            <a:ext cx="502920" cy="502920"/>
          </a:xfrm>
          <a:prstGeom prst="roundRect">
            <a:avLst/>
          </a:prstGeom>
          <a:solidFill>
            <a:srgbClr val="397D82"/>
          </a:solidFill>
          <a:ln>
            <a:solidFill>
              <a:srgbClr val="39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76087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Validate with SHACL</a:t>
            </a:r>
          </a:p>
          <a:p>
            <a:pPr>
              <a:defRPr sz="1200">
                <a:solidFill>
                  <a:srgbClr val="D2DCE4"/>
                </a:solidFill>
              </a:defRPr>
            </a:pPr>
            <a:r>
              <a:t>Keep concrete profile constraints out of broad RDFS semantics.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A"/>
                </a:solidFill>
              </a:defRPr>
            </a:pPr>
            <a:r>
              <a:t>TRSP profile modelling  •  Developers  •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