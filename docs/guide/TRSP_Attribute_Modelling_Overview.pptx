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TRSP Attributes: the semantic middle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7E1E8"/>
                </a:solidFill>
              </a:defRPr>
            </a:pPr>
            <a:r>
              <a:t>A consolidated vocabulary for comparing heterogeneous repository and service descriptions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377440" cy="822960"/>
          </a:xfrm>
          <a:prstGeom prst="roundRect">
            <a:avLst/>
          </a:prstGeom>
          <a:solidFill>
            <a:srgbClr val="667079"/>
          </a:solidFill>
          <a:ln>
            <a:solidFill>
              <a:srgbClr val="667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Source / Profile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2377440" cy="822960"/>
          </a:xfrm>
          <a:prstGeom prst="roundRect">
            <a:avLst/>
          </a:prstGeom>
          <a:solidFill>
            <a:srgbClr val="667079"/>
          </a:solidFill>
          <a:ln>
            <a:solidFill>
              <a:srgbClr val="667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Source / Profile 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2377440" cy="822960"/>
          </a:xfrm>
          <a:prstGeom prst="roundRect">
            <a:avLst/>
          </a:prstGeom>
          <a:solidFill>
            <a:srgbClr val="667079"/>
          </a:solidFill>
          <a:ln>
            <a:solidFill>
              <a:srgbClr val="667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Source / Profile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971800"/>
            <a:ext cx="2743200" cy="1097280"/>
          </a:xfrm>
          <a:prstGeom prst="roundRect">
            <a:avLst/>
          </a:prstGeom>
          <a:solidFill>
            <a:srgbClr val="377E80"/>
          </a:solidFill>
          <a:ln>
            <a:solidFill>
              <a:srgbClr val="37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TRSP Attribute</a:t>
            </a:r>
            <a:br/>
            <a:r>
              <a:t>neutral concept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331720"/>
            <a:ext cx="1645920" cy="118872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54679" y="267004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maps to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108960" y="3520440"/>
            <a:ext cx="1645920" cy="4572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54679" y="328726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maps to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108960" y="3520440"/>
            <a:ext cx="1645920" cy="128016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54679" y="3904487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maps 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971800"/>
            <a:ext cx="2377440" cy="1097280"/>
          </a:xfrm>
          <a:prstGeom prst="roundRect">
            <a:avLst/>
          </a:prstGeom>
          <a:solidFill>
            <a:srgbClr val="376795"/>
          </a:solidFill>
          <a:ln>
            <a:solidFill>
              <a:srgbClr val="376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Profile / RDF</a:t>
            </a:r>
            <a:br/>
            <a:r>
              <a:t>encoding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79" y="3520440"/>
            <a:ext cx="1371601" cy="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06640" y="326440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used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78E"/>
                </a:solidFill>
              </a:defRPr>
            </a:pPr>
            <a:r>
              <a:t>TRSP Attribute modelling  •  Overview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D42"/>
                </a:solidFill>
              </a:defRPr>
            </a:pPr>
            <a:r>
              <a:t>Attributes form a SKOS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43A"/>
                </a:solidFill>
              </a:defRPr>
            </a:pPr>
            <a:r>
              <a:t>The hierarchy organises characteristics; it does not classify repositories.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743200" cy="640080"/>
          </a:xfrm>
          <a:prstGeom prst="roundRect">
            <a:avLst/>
          </a:prstGeom>
          <a:solidFill>
            <a:srgbClr val="1C2D42"/>
          </a:solidFill>
          <a:ln>
            <a:solidFill>
              <a:srgbClr val="1C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Sustainability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2560320"/>
            <a:ext cx="2743200" cy="640080"/>
          </a:xfrm>
          <a:prstGeom prst="roundRect">
            <a:avLst/>
          </a:prstGeom>
          <a:solidFill>
            <a:srgbClr val="376795"/>
          </a:solidFill>
          <a:ln>
            <a:solidFill>
              <a:srgbClr val="376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Social Sustainability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566160"/>
            <a:ext cx="2468880" cy="594360"/>
          </a:xfrm>
          <a:prstGeom prst="roundRect">
            <a:avLst/>
          </a:prstGeom>
          <a:solidFill>
            <a:srgbClr val="377E80"/>
          </a:solidFill>
          <a:ln>
            <a:solidFill>
              <a:srgbClr val="37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572000"/>
            <a:ext cx="2011680" cy="731520"/>
          </a:xfrm>
          <a:prstGeom prst="roundRect">
            <a:avLst/>
          </a:prstGeom>
          <a:solidFill>
            <a:srgbClr val="B27138"/>
          </a:solidFill>
          <a:ln>
            <a:solidFill>
              <a:srgbClr val="B27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Governance</a:t>
            </a:r>
            <a:br/>
            <a:r>
              <a:t>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4572000"/>
            <a:ext cx="2011680" cy="731520"/>
          </a:xfrm>
          <a:prstGeom prst="roundRect">
            <a:avLst/>
          </a:prstGeom>
          <a:solidFill>
            <a:srgbClr val="B27138"/>
          </a:solidFill>
          <a:ln>
            <a:solidFill>
              <a:srgbClr val="B27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Stakeholder</a:t>
            </a:r>
            <a:br/>
            <a:r>
              <a:t>Representation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4572000"/>
            <a:ext cx="2011680" cy="731520"/>
          </a:xfrm>
          <a:prstGeom prst="roundRect">
            <a:avLst/>
          </a:prstGeom>
          <a:solidFill>
            <a:srgbClr val="B27138"/>
          </a:solidFill>
          <a:ln>
            <a:solidFill>
              <a:srgbClr val="B27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Governance</a:t>
            </a:r>
            <a:br/>
            <a:r>
              <a:t>Model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03120" y="2194560"/>
            <a:ext cx="320040" cy="36576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23160" y="3200400"/>
            <a:ext cx="182880" cy="36576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06040" y="4160520"/>
            <a:ext cx="2880360" cy="41148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606040" y="4160520"/>
            <a:ext cx="5349239" cy="41148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06040" y="4160520"/>
            <a:ext cx="7818120" cy="41148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0" y="1508760"/>
            <a:ext cx="64008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A"/>
                </a:solidFill>
              </a:defRPr>
            </a:pPr>
            <a:r>
              <a:t>• Each Attribute is a SKOS concept in the TRSP Attribute Concept Scheme.</a:t>
            </a:r>
          </a:p>
          <a:p>
            <a:pPr>
              <a:spcAft>
                <a:spcPts val="800"/>
              </a:spcAft>
              <a:defRPr sz="1600">
                <a:solidFill>
                  <a:srgbClr val="2D343A"/>
                </a:solidFill>
              </a:defRPr>
            </a:pPr>
            <a:r>
              <a:t>• Use skos:broader / skos:narrower for conceptual hierarchy.</a:t>
            </a:r>
          </a:p>
          <a:p>
            <a:pPr>
              <a:spcAft>
                <a:spcPts val="800"/>
              </a:spcAft>
              <a:defRPr sz="1600">
                <a:solidFill>
                  <a:srgbClr val="2D343A"/>
                </a:solidFill>
              </a:defRPr>
            </a:pPr>
            <a:r>
              <a:t>• Do not model these relationships as OWL subclasses of Repository or Service.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78E"/>
                </a:solidFill>
              </a:defRPr>
            </a:pPr>
            <a:r>
              <a:t>TRSP Attribute modelling  •  Conceptual model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D42"/>
                </a:solidFill>
              </a:defRPr>
            </a:pPr>
            <a:r>
              <a:t>Attribute ≠ RDF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43A"/>
                </a:solidFill>
              </a:defRPr>
            </a:pPr>
            <a:r>
              <a:t>The Attribute says what characteristic is meant; the predicate says how data encodes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2743200" cy="914400"/>
          </a:xfrm>
          <a:prstGeom prst="roundRect">
            <a:avLst/>
          </a:prstGeom>
          <a:solidFill>
            <a:srgbClr val="377E80"/>
          </a:solidFill>
          <a:ln>
            <a:solidFill>
              <a:srgbClr val="37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TRSP Attribute</a:t>
            </a:r>
            <a:br/>
            <a:r>
              <a:t>Publisher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828800"/>
            <a:ext cx="2743200" cy="914400"/>
          </a:xfrm>
          <a:prstGeom prst="roundRect">
            <a:avLst/>
          </a:prstGeom>
          <a:solidFill>
            <a:srgbClr val="538465"/>
          </a:solidFill>
          <a:ln>
            <a:solidFill>
              <a:srgbClr val="538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RDF property</a:t>
            </a:r>
            <a:br/>
            <a:r>
              <a:t>dct:publisher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66160" y="2286000"/>
            <a:ext cx="1188720" cy="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83279" y="2029967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corresponds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691640"/>
            <a:ext cx="3383280" cy="1188720"/>
          </a:xfrm>
          <a:prstGeom prst="roundRect">
            <a:avLst/>
          </a:prstGeom>
          <a:solidFill>
            <a:srgbClr val="F8F9FA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D343A"/>
                </a:solidFill>
                <a:latin typeface="Courier New"/>
              </a:defRPr>
            </a:pPr>
            <a:r>
              <a:t>ex:Repository123</a:t>
            </a:r>
            <a:br/>
            <a:r>
              <a:t>    dct:publisher ex:Organisation456 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79" y="2286000"/>
            <a:ext cx="502921" cy="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72300" y="2029967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used in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86200"/>
            <a:ext cx="2743200" cy="822960"/>
          </a:xfrm>
          <a:prstGeom prst="roundRect">
            <a:avLst/>
          </a:prstGeom>
          <a:solidFill>
            <a:srgbClr val="B27138"/>
          </a:solidFill>
          <a:ln>
            <a:solidFill>
              <a:srgbClr val="B27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No suitable external</a:t>
            </a:r>
            <a:br/>
            <a:r>
              <a:t>property?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886200"/>
            <a:ext cx="2743200" cy="822960"/>
          </a:xfrm>
          <a:prstGeom prst="roundRect">
            <a:avLst/>
          </a:prstGeom>
          <a:solidFill>
            <a:srgbClr val="376795"/>
          </a:solidFill>
          <a:ln>
            <a:solidFill>
              <a:srgbClr val="376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Define a TRSP</a:t>
            </a:r>
            <a:br/>
            <a:r>
              <a:t>RDF property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66160" y="4297680"/>
            <a:ext cx="1188720" cy="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83279" y="404164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then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703320"/>
            <a:ext cx="3566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43A"/>
                </a:solidFill>
              </a:defRPr>
            </a:pPr>
            <a:r>
              <a:t>• Prefer established external predicates where they adequately represent the Attribute.</a:t>
            </a:r>
          </a:p>
          <a:p>
            <a:pPr>
              <a:spcAft>
                <a:spcPts val="800"/>
              </a:spcAft>
              <a:defRPr sz="1400">
                <a:solidFill>
                  <a:srgbClr val="2D343A"/>
                </a:solidFill>
              </a:defRPr>
            </a:pPr>
            <a:r>
              <a:t>• Mint a TRSP predicate only where no suitable reusable property exists or TRSP needs distinct semantics.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78E"/>
                </a:solidFill>
              </a:defRPr>
            </a:pPr>
            <a:r>
              <a:t>TRSP Attribute modelling  •  Conceptual model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D42"/>
                </a:solidFill>
              </a:defRPr>
            </a:pPr>
            <a:r>
              <a:t>Attributes provide the pivot between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43A"/>
                </a:solidFill>
              </a:defRPr>
            </a:pPr>
            <a:r>
              <a:t>Different encodings can converge on the same neutral characteristic.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468880" cy="822960"/>
          </a:xfrm>
          <a:prstGeom prst="roundRect">
            <a:avLst/>
          </a:prstGeom>
          <a:solidFill>
            <a:srgbClr val="376795"/>
          </a:solidFill>
          <a:ln>
            <a:solidFill>
              <a:srgbClr val="376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Profile A</a:t>
            </a:r>
            <a:br/>
            <a:r>
              <a:t>ProfileProperty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931920"/>
            <a:ext cx="2468880" cy="822960"/>
          </a:xfrm>
          <a:prstGeom prst="roundRect">
            <a:avLst/>
          </a:prstGeom>
          <a:solidFill>
            <a:srgbClr val="376795"/>
          </a:solidFill>
          <a:ln>
            <a:solidFill>
              <a:srgbClr val="376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Profile B</a:t>
            </a:r>
            <a:br/>
            <a:r>
              <a:t>ProfileProperty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788920"/>
            <a:ext cx="2560320" cy="914400"/>
          </a:xfrm>
          <a:prstGeom prst="roundRect">
            <a:avLst/>
          </a:prstGeom>
          <a:solidFill>
            <a:srgbClr val="377E80"/>
          </a:solidFill>
          <a:ln>
            <a:solidFill>
              <a:srgbClr val="37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TRSP Attribute</a:t>
            </a:r>
            <a:br/>
            <a:r>
              <a:t>Publisher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286000" cy="822960"/>
          </a:xfrm>
          <a:prstGeom prst="roundRect">
            <a:avLst/>
          </a:prstGeom>
          <a:solidFill>
            <a:srgbClr val="538465"/>
          </a:solidFill>
          <a:ln>
            <a:solidFill>
              <a:srgbClr val="538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dct:publisher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3931920"/>
            <a:ext cx="2286000" cy="822960"/>
          </a:xfrm>
          <a:prstGeom prst="roundRect">
            <a:avLst/>
          </a:prstGeom>
          <a:solidFill>
            <a:srgbClr val="538465"/>
          </a:solidFill>
          <a:ln>
            <a:solidFill>
              <a:srgbClr val="538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exb:publishing-</a:t>
            </a:r>
            <a:br/>
            <a:r>
              <a:t>Organisation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057400"/>
            <a:ext cx="1554480" cy="100584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08960" y="2304287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hasAttribute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108960" y="3429000"/>
            <a:ext cx="1554480" cy="91440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08960" y="363016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hasAttribute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2057400"/>
            <a:ext cx="5852160" cy="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57800" y="180136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property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4343400"/>
            <a:ext cx="5852160" cy="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57800" y="408736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property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25780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A"/>
                </a:solidFill>
              </a:defRPr>
            </a:pPr>
            <a:r>
              <a:t>• Pairwise mappings are not required merely to establish shared meaning.</a:t>
            </a:r>
          </a:p>
          <a:p>
            <a:pPr>
              <a:spcAft>
                <a:spcPts val="800"/>
              </a:spcAft>
              <a:defRPr sz="1500">
                <a:solidFill>
                  <a:srgbClr val="2D343A"/>
                </a:solidFill>
              </a:defRPr>
            </a:pPr>
            <a:r>
              <a:t>• Mapping to one Attribute does not imply the two structures are losslessly interchangeable.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78E"/>
                </a:solidFill>
              </a:defRPr>
            </a:pPr>
            <a:r>
              <a:t>TRSP Attribute modelling  •  Profiles and mapping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D42"/>
                </a:solidFill>
              </a:defRPr>
            </a:pPr>
            <a:r>
              <a:t>Recommendations at Attribute level; requirements at Profile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43A"/>
                </a:solidFill>
              </a:defRPr>
            </a:pPr>
            <a:r>
              <a:t>Similar metadata can have deliberately different force.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4297680" cy="731520"/>
          </a:xfrm>
          <a:prstGeom prst="roundRect">
            <a:avLst/>
          </a:prstGeom>
          <a:solidFill>
            <a:srgbClr val="377E80"/>
          </a:solidFill>
          <a:ln>
            <a:solidFill>
              <a:srgbClr val="37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TRSP Attribute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06040"/>
            <a:ext cx="41148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A"/>
                </a:solidFill>
              </a:defRPr>
            </a:pPr>
            <a:r>
              <a:t>• Consolidated recommendation / default</a:t>
            </a:r>
          </a:p>
          <a:p>
            <a:pPr>
              <a:spcAft>
                <a:spcPts val="800"/>
              </a:spcAft>
              <a:defRPr sz="1600">
                <a:solidFill>
                  <a:srgbClr val="2D343A"/>
                </a:solidFill>
              </a:defRPr>
            </a:pPr>
            <a:r>
              <a:t>• Best-practice cardinality</a:t>
            </a:r>
          </a:p>
          <a:p>
            <a:pPr>
              <a:spcAft>
                <a:spcPts val="800"/>
              </a:spcAft>
              <a:defRPr sz="1600">
                <a:solidFill>
                  <a:srgbClr val="2D343A"/>
                </a:solidFill>
              </a:defRPr>
            </a:pPr>
            <a:r>
              <a:t>• Measurement or benchmark guidance</a:t>
            </a:r>
          </a:p>
          <a:p>
            <a:pPr>
              <a:spcAft>
                <a:spcPts val="800"/>
              </a:spcAft>
              <a:defRPr sz="1600">
                <a:solidFill>
                  <a:srgbClr val="2D343A"/>
                </a:solidFill>
              </a:defRPr>
            </a:pPr>
            <a:r>
              <a:t>• Value / class expectations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4297680" cy="731520"/>
          </a:xfrm>
          <a:prstGeom prst="roundRect">
            <a:avLst/>
          </a:prstGeom>
          <a:solidFill>
            <a:srgbClr val="376795"/>
          </a:solidFill>
          <a:ln>
            <a:solidFill>
              <a:srgbClr val="376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ProfileProperty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606040"/>
            <a:ext cx="42976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A"/>
                </a:solidFill>
              </a:defRPr>
            </a:pPr>
            <a:r>
              <a:t>• Concrete requirement of a profile</a:t>
            </a:r>
          </a:p>
          <a:p>
            <a:pPr>
              <a:spcAft>
                <a:spcPts val="800"/>
              </a:spcAft>
              <a:defRPr sz="1600">
                <a:solidFill>
                  <a:srgbClr val="2D343A"/>
                </a:solidFill>
              </a:defRPr>
            </a:pPr>
            <a:r>
              <a:t>• May repeat, refine or override Attribute guidance</a:t>
            </a:r>
          </a:p>
          <a:p>
            <a:pPr>
              <a:spcAft>
                <a:spcPts val="800"/>
              </a:spcAft>
              <a:defRPr sz="1600">
                <a:solidFill>
                  <a:srgbClr val="2D343A"/>
                </a:solidFill>
              </a:defRPr>
            </a:pPr>
            <a:r>
              <a:t>• Can express mandatory cardinality or value rules</a:t>
            </a:r>
          </a:p>
          <a:p>
            <a:pPr>
              <a:spcAft>
                <a:spcPts val="800"/>
              </a:spcAft>
              <a:defRPr sz="1600">
                <a:solidFill>
                  <a:srgbClr val="2D343A"/>
                </a:solidFill>
              </a:defRPr>
            </a:pPr>
            <a:r>
              <a:t>• Used for profile-specific validation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20640" y="3520440"/>
            <a:ext cx="1280160" cy="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83480" y="326440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inform / refine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16636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B27138"/>
                </a:solidFill>
              </a:defRPr>
            </a:pPr>
            <a:r>
              <a:t>Detailed constraint semantics are intentionally handled in a separate model/chapter.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78E"/>
                </a:solidFill>
              </a:defRPr>
            </a:pPr>
            <a:r>
              <a:t>TRSP Attribute modelling  •  Constraint boundary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Developer view: integrated Attribute + Profile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7E1E8"/>
                </a:solidFill>
              </a:defRPr>
            </a:pPr>
            <a:r>
              <a:t>Four questions remain explicit in the graph.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2194560" cy="777240"/>
          </a:xfrm>
          <a:prstGeom prst="roundRect">
            <a:avLst/>
          </a:prstGeom>
          <a:solidFill>
            <a:srgbClr val="667079"/>
          </a:solidFill>
          <a:ln>
            <a:solidFill>
              <a:srgbClr val="667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Repository /</a:t>
            </a:r>
            <a:br/>
            <a:r>
              <a:t>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554480"/>
            <a:ext cx="2057400" cy="777240"/>
          </a:xfrm>
          <a:prstGeom prst="roundRect">
            <a:avLst/>
          </a:prstGeom>
          <a:solidFill>
            <a:srgbClr val="376795"/>
          </a:solidFill>
          <a:ln>
            <a:solidFill>
              <a:srgbClr val="376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554480"/>
            <a:ext cx="2194560" cy="777240"/>
          </a:xfrm>
          <a:prstGeom prst="roundRect">
            <a:avLst/>
          </a:prstGeom>
          <a:solidFill>
            <a:srgbClr val="B27138"/>
          </a:solidFill>
          <a:ln>
            <a:solidFill>
              <a:srgbClr val="B27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ProfileProperty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051560"/>
            <a:ext cx="2240280" cy="777240"/>
          </a:xfrm>
          <a:prstGeom prst="roundRect">
            <a:avLst/>
          </a:prstGeom>
          <a:solidFill>
            <a:srgbClr val="377E80"/>
          </a:solidFill>
          <a:ln>
            <a:solidFill>
              <a:srgbClr val="37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TRSP Attribute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560320"/>
            <a:ext cx="2240280" cy="777240"/>
          </a:xfrm>
          <a:prstGeom prst="roundRect">
            <a:avLst/>
          </a:prstGeom>
          <a:solidFill>
            <a:srgbClr val="538465"/>
          </a:solidFill>
          <a:ln>
            <a:solidFill>
              <a:srgbClr val="538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rdf:Property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80" y="1938528"/>
            <a:ext cx="274320" cy="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57400" y="1682496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hasProfile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0" y="1938528"/>
            <a:ext cx="274320" cy="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89120" y="1682496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hasProperty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498079" y="1444752"/>
            <a:ext cx="320041" cy="338328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80860" y="1357884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hasAttribute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79" y="2103120"/>
            <a:ext cx="320041" cy="777240"/>
          </a:xfrm>
          <a:prstGeom prst="line">
            <a:avLst/>
          </a:prstGeom>
          <a:ln w="25400">
            <a:solidFill>
              <a:srgbClr val="376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80860" y="2235707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property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86200"/>
            <a:ext cx="5303520" cy="1600200"/>
          </a:xfrm>
          <a:prstGeom prst="roundRect">
            <a:avLst/>
          </a:prstGeom>
          <a:solidFill>
            <a:srgbClr val="F8F9FA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D343A"/>
                </a:solidFill>
                <a:latin typeface="Courier New"/>
              </a:defRPr>
            </a:pPr>
            <a:r>
              <a:t>ex:ProfileA-publisher</a:t>
            </a:r>
            <a:br/>
            <a:r>
              <a:t>    a trsp:ProfileProperty ;</a:t>
            </a:r>
            <a:br/>
            <a:r>
              <a:t>    trsp:hasAttribute trsp:att.publisher ;</a:t>
            </a:r>
            <a:br/>
            <a:r>
              <a:t>    trsp:property dct:publisher 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4846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What resource? → Repository / Service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Which specification? → Profile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Which characteristic? → Attribute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How encoded? → ProfileProperty + RDF property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878E"/>
                </a:solidFill>
              </a:defRPr>
            </a:pPr>
            <a:r>
              <a:t>TRSP Attribute modelling  •  Developers  •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